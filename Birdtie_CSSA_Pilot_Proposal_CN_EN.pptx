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RDTIE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Birdtie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326880" y="2743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CSSA Aberdeen founding pilot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562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1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Birdtie × CSSA Aberdeen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18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18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315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Birdtie × CSSA Aberdeen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138988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DE9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创始合作组织 · One-event Pilot Proposal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13232" y="2148840"/>
            <a:ext cx="6720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让还没进入正确微信群、还不知道该关注谁的学生，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也能发现真实活动，并真正参与进去。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511296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FE0D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Help students discover what is happening nearby - then turn discovery into participation.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58200" y="640080"/>
            <a:ext cx="2880360" cy="5440680"/>
          </a:xfrm>
          <a:prstGeom prst="roundRect">
            <a:avLst>
              <a:gd name="adj" fmla="val 8889"/>
            </a:avLst>
          </a:prstGeom>
          <a:solidFill>
            <a:srgbClr val="FAFAF7"/>
          </a:solidFill>
          <a:ln w="17780">
            <a:solidFill>
              <a:srgbClr val="2639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37522" y="749808"/>
            <a:ext cx="921715" cy="82296"/>
          </a:xfrm>
          <a:prstGeom prst="roundRect">
            <a:avLst>
              <a:gd name="adj" fmla="val 44444"/>
            </a:avLst>
          </a:prstGeom>
          <a:solidFill>
            <a:srgbClr val="263934"/>
          </a:solidFill>
          <a:ln w="12700">
            <a:solidFill>
              <a:srgbClr val="2639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86216" y="914400"/>
            <a:ext cx="2624328" cy="4462272"/>
          </a:xfrm>
          <a:prstGeom prst="rect">
            <a:avLst/>
          </a:prstGeom>
          <a:solidFill>
            <a:srgbClr val="EAF1EB"/>
          </a:solidFill>
          <a:ln w="12700">
            <a:solidFill>
              <a:srgbClr val="EAF1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12070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Nearby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59952" y="1581912"/>
            <a:ext cx="1234440" cy="338328"/>
          </a:xfrm>
          <a:prstGeom prst="roundRect">
            <a:avLst>
              <a:gd name="adj" fmla="val 48649"/>
            </a:avLst>
          </a:prstGeom>
          <a:solidFill>
            <a:srgbClr val="DDE9E5"/>
          </a:solidFill>
          <a:ln w="12700">
            <a:solidFill>
              <a:srgbClr val="DDE9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650492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Tonight · 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759952" y="1993392"/>
            <a:ext cx="1426464" cy="338328"/>
          </a:xfrm>
          <a:prstGeom prst="roundRect">
            <a:avLst>
              <a:gd name="adj" fmla="val 48649"/>
            </a:avLst>
          </a:prstGeom>
          <a:solidFill>
            <a:srgbClr val="DDE9E5"/>
          </a:solidFill>
          <a:ln w="12700">
            <a:solidFill>
              <a:srgbClr val="DDE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0" y="2061972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Student · 8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778240" y="2697480"/>
            <a:ext cx="2103120" cy="-182880"/>
          </a:xfrm>
          <a:prstGeom prst="line">
            <a:avLst/>
          </a:prstGeom>
          <a:noFill/>
          <a:ln w="17780">
            <a:solidFill>
              <a:srgbClr val="C6D8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0" y="3044952"/>
            <a:ext cx="2103120" cy="347472"/>
          </a:xfrm>
          <a:prstGeom prst="line">
            <a:avLst/>
          </a:prstGeom>
          <a:noFill/>
          <a:ln w="17780">
            <a:solidFill>
              <a:srgbClr val="C6D8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3392424"/>
            <a:ext cx="2103120" cy="-182880"/>
          </a:xfrm>
          <a:prstGeom prst="line">
            <a:avLst/>
          </a:prstGeom>
          <a:noFill/>
          <a:ln w="17780">
            <a:solidFill>
              <a:srgbClr val="C6D8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0" y="3739896"/>
            <a:ext cx="2103120" cy="347472"/>
          </a:xfrm>
          <a:prstGeom prst="line">
            <a:avLst/>
          </a:prstGeom>
          <a:noFill/>
          <a:ln w="17780">
            <a:solidFill>
              <a:srgbClr val="C6D8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4087368"/>
            <a:ext cx="2103120" cy="-182880"/>
          </a:xfrm>
          <a:prstGeom prst="line">
            <a:avLst/>
          </a:prstGeom>
          <a:noFill/>
          <a:ln w="17780">
            <a:solidFill>
              <a:srgbClr val="C6D8C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81160" y="2788920"/>
            <a:ext cx="585216" cy="585216"/>
          </a:xfrm>
          <a:prstGeom prst="ellipse">
            <a:avLst/>
          </a:prstGeom>
          <a:solidFill>
            <a:srgbClr val="C56F43"/>
          </a:solidFill>
          <a:ln w="12700">
            <a:solidFill>
              <a:srgbClr val="C56F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81160" y="288950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●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149840" y="3337560"/>
            <a:ext cx="585216" cy="585216"/>
          </a:xfrm>
          <a:prstGeom prst="ellipse">
            <a:avLst/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9840" y="343814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●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646920" y="4069080"/>
            <a:ext cx="585216" cy="585216"/>
          </a:xfrm>
          <a:prstGeom prst="ellipse">
            <a:avLst/>
          </a:prstGeom>
          <a:solidFill>
            <a:srgbClr val="C56F43"/>
          </a:solidFill>
          <a:ln w="12700">
            <a:solidFill>
              <a:srgbClr val="C56F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46920" y="416966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●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750808" y="4754880"/>
            <a:ext cx="2304288" cy="502920"/>
          </a:xfrm>
          <a:prstGeom prst="roundRect">
            <a:avLst>
              <a:gd name="adj" fmla="val 25455"/>
            </a:avLst>
          </a:prstGeom>
          <a:solidFill>
            <a:srgbClr val="FFFFFF"/>
          </a:solidFill>
          <a:ln w="12700">
            <a:solidFill>
              <a:srgbClr val="CBD8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87968" y="49103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  What do you want to do?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731520" y="6035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0D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Closed pilot • Aberdeen •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学生不是缺少活动，而是缺少“发现入口”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7101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problem is fragmented discovery, not a lack of activities.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847088"/>
            <a:ext cx="2057400" cy="1097280"/>
          </a:xfrm>
          <a:prstGeom prst="roundRect">
            <a:avLst>
              <a:gd name="adj" fmla="val 11667"/>
            </a:avLst>
          </a:prstGeom>
          <a:solidFill>
            <a:srgbClr val="F4E2D8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848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微信群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963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WeChat groups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154680" y="1847088"/>
            <a:ext cx="20574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20848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公众号 / 社媒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37560" y="24963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Official &amp; social accounts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577840" y="1847088"/>
            <a:ext cx="20574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20848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学校 / AUSA 页面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60720" y="24963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University pages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001000" y="1847088"/>
            <a:ext cx="20574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20848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朋友转发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83880" y="24963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Word of mouth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697480" y="3246120"/>
            <a:ext cx="6766560" cy="0"/>
          </a:xfrm>
          <a:prstGeom prst="line">
            <a:avLst/>
          </a:prstGeom>
          <a:noFill/>
          <a:ln w="25400">
            <a:solidFill>
              <a:srgbClr val="D6DE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0240" y="3657600"/>
            <a:ext cx="8366760" cy="1325880"/>
          </a:xfrm>
          <a:prstGeom prst="roundRect">
            <a:avLst>
              <a:gd name="adj" fmla="val 9655"/>
            </a:avLst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3913632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“这周末附近有什么？有没有中国学生的活动？哪里能打羽毛球？”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834640" y="449884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9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For a new student, knowing where to look is already part of the problem.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43000" y="55138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Birdtie 的机会：把“发现”从渠道知识，变成一句自然语言或一个本地 Pulse。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18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Birdtie 把发现变成一个可完成的行动链路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7101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Ask -&gt; discover -&gt; decide -&gt; join -&gt; remember.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57400"/>
            <a:ext cx="585216" cy="585216"/>
          </a:xfrm>
          <a:prstGeom prst="ellipse">
            <a:avLst/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5798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204825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Ask / Local Pulse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2487168"/>
            <a:ext cx="132588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学生直接问：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“这周末有什么中国学生的活动？”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或从 Nearby / Tonight / Sports 等本地区域摘要进入。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2057400"/>
            <a:ext cx="585216" cy="585216"/>
          </a:xfrm>
          <a:prstGeom prst="ellipse">
            <a:avLst/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215798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43400" y="204825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Real results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43400" y="2487168"/>
            <a:ext cx="132588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Personal Agent 返回真实组织、活动和地点；地图 Pin、结果卡片和对话使用同一个实体。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82880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057400"/>
            <a:ext cx="585216" cy="585216"/>
          </a:xfrm>
          <a:prstGeom prst="ellipse">
            <a:avLst/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5798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40880" y="204825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Decide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2487168"/>
            <a:ext cx="132588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完整时间、地点、主办方、资格、价格和说明，让学生知道活动是否适合自己。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78240" y="182880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840" y="2057400"/>
            <a:ext cx="585216" cy="585216"/>
          </a:xfrm>
          <a:prstGeom prst="ellipse">
            <a:avLst/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06840" y="215798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38360" y="204825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Join &amp; Plans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38360" y="2487168"/>
            <a:ext cx="132588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Join / Save 后进入 Plans；地点/时间变化可通知参与者。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325880" y="5577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重点：Birdtie 不只“告诉用户有活动”，而是把用户带到真实参与。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18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一个新生的 60 秒使用场景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7101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new student does not need to know which channel to follow first.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2971800" cy="4434840"/>
          </a:xfrm>
          <a:prstGeom prst="roundRect">
            <a:avLst>
              <a:gd name="adj" fmla="val 8615"/>
            </a:avLst>
          </a:prstGeom>
          <a:solidFill>
            <a:srgbClr val="FAFAF7"/>
          </a:solidFill>
          <a:ln w="17780">
            <a:solidFill>
              <a:srgbClr val="2639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7652" y="1801368"/>
            <a:ext cx="950976" cy="82296"/>
          </a:xfrm>
          <a:prstGeom prst="roundRect">
            <a:avLst>
              <a:gd name="adj" fmla="val 44444"/>
            </a:avLst>
          </a:prstGeom>
          <a:solidFill>
            <a:srgbClr val="263934"/>
          </a:solidFill>
          <a:ln w="12700">
            <a:solidFill>
              <a:srgbClr val="2639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Nearby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24128" y="2450592"/>
            <a:ext cx="1325880" cy="338328"/>
          </a:xfrm>
          <a:prstGeom prst="roundRect">
            <a:avLst>
              <a:gd name="adj" fmla="val 48649"/>
            </a:avLst>
          </a:prstGeom>
          <a:solidFill>
            <a:srgbClr val="DDE9E5"/>
          </a:solidFill>
          <a:ln w="12700">
            <a:solidFill>
              <a:srgbClr val="DDE9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856" y="2519172"/>
            <a:ext cx="1106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Weekend · 14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24128" y="2852928"/>
            <a:ext cx="1664208" cy="338328"/>
          </a:xfrm>
          <a:prstGeom prst="roundRect">
            <a:avLst>
              <a:gd name="adj" fmla="val 48649"/>
            </a:avLst>
          </a:prstGeom>
          <a:solidFill>
            <a:srgbClr val="DDE9E5"/>
          </a:solidFill>
          <a:ln w="12700">
            <a:solidFill>
              <a:srgbClr val="DDE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292150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Chinese community · 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05840" y="5148072"/>
            <a:ext cx="2487168" cy="502920"/>
          </a:xfrm>
          <a:prstGeom prst="roundRect">
            <a:avLst>
              <a:gd name="adj" fmla="val 25455"/>
            </a:avLst>
          </a:prstGeom>
          <a:solidFill>
            <a:srgbClr val="FFFFFF"/>
          </a:solidFill>
          <a:ln w="12700">
            <a:solidFill>
              <a:srgbClr val="CBD8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7008" y="53218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 Ask Birdtie…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34840" y="1874520"/>
            <a:ext cx="182880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103120"/>
            <a:ext cx="585216" cy="585216"/>
          </a:xfrm>
          <a:prstGeom prst="ellipse">
            <a:avLst/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20370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94960" y="209397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94960" y="2532888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Find Chinese student events this weekend.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29400" y="1874520"/>
            <a:ext cx="182880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2103120"/>
            <a:ext cx="585216" cy="585216"/>
          </a:xfrm>
          <a:prstGeom prst="ellipse">
            <a:avLst/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20370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589520" y="209397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真实结果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89520" y="2532888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CSSA event appears with verified organizer &amp; place.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23960" y="1874520"/>
            <a:ext cx="182880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0" y="2103120"/>
            <a:ext cx="585216" cy="585216"/>
          </a:xfrm>
          <a:prstGeom prst="ellipse">
            <a:avLst/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0" y="220370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784080" y="209397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直接参加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84080" y="2532888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Join -&gt; Plans -&gt; important update reminders.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40096" y="4023360"/>
            <a:ext cx="4343400" cy="0"/>
          </a:xfrm>
          <a:prstGeom prst="line">
            <a:avLst/>
          </a:prstGeom>
          <a:noFill/>
          <a:ln w="25400">
            <a:solidFill>
              <a:srgbClr val="173A3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297680" y="4407408"/>
            <a:ext cx="6629400" cy="1024128"/>
          </a:xfrm>
          <a:prstGeom prst="roundRect">
            <a:avLst>
              <a:gd name="adj" fmla="val 12500"/>
            </a:avLst>
          </a:prstGeom>
          <a:solidFill>
            <a:srgbClr val="DDE9E5"/>
          </a:solidFill>
          <a:ln w="12700">
            <a:solidFill>
              <a:srgbClr val="DDE9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663440"/>
            <a:ext cx="6080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 CSSA 来说：多了一个触达“还没进入现有渠道”的学生的入口，而不是替换微信群或公众号。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18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CSSA 可以得到什么？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7101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lightweight participation layer around your existing channels.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42900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84248"/>
            <a:ext cx="502920" cy="338328"/>
          </a:xfrm>
          <a:prstGeom prst="roundRect">
            <a:avLst>
              <a:gd name="adj" fmla="val 48649"/>
            </a:avLst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052828"/>
            <a:ext cx="283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24414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更早触达新生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80720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不要求学生先知道该进哪个群、关注哪个账号。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42900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984248"/>
            <a:ext cx="502920" cy="338328"/>
          </a:xfrm>
          <a:prstGeom prst="roundRect">
            <a:avLst>
              <a:gd name="adj" fmla="val 48649"/>
            </a:avLst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2052828"/>
            <a:ext cx="283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63440" y="24414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更少重复答疑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63440" y="280720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Verified profile + FAQ / Organization Agent 回答高频公开问题。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83880" y="1783080"/>
            <a:ext cx="342900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984248"/>
            <a:ext cx="502920" cy="338328"/>
          </a:xfrm>
          <a:prstGeom prst="roundRect">
            <a:avLst>
              <a:gd name="adj" fmla="val 48649"/>
            </a:avLst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22208" y="2052828"/>
            <a:ext cx="283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412480" y="24414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更轻的活动发布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12480" y="280720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目标：常规活动在 onboarding 后 3 分钟内完成发布。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3931920"/>
            <a:ext cx="342900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133088"/>
            <a:ext cx="502920" cy="338328"/>
          </a:xfrm>
          <a:prstGeom prst="roundRect">
            <a:avLst>
              <a:gd name="adj" fmla="val 48649"/>
            </a:avLst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4201668"/>
            <a:ext cx="283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14400" y="45902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更清楚的参与漏斗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4400" y="495604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Views -&gt; Detail -&gt; Join，用于判断活动发现是否有效。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34840" y="3931920"/>
            <a:ext cx="342900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4133088"/>
            <a:ext cx="502920" cy="338328"/>
          </a:xfrm>
          <a:prstGeom prst="roundRect">
            <a:avLst>
              <a:gd name="adj" fmla="val 48649"/>
            </a:avLst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4201668"/>
            <a:ext cx="283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0" y="45902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关键变更可触达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63440" y="495604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 Join 用户可收到时间、地点、取消等重要更新。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83880" y="3931920"/>
            <a:ext cx="342900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0" y="4133088"/>
            <a:ext cx="502920" cy="338328"/>
          </a:xfrm>
          <a:prstGeom prst="roundRect">
            <a:avLst>
              <a:gd name="adj" fmla="val 48649"/>
            </a:avLst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22208" y="4201668"/>
            <a:ext cx="283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412480" y="45902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保持官方控制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412480" y="495604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活动事实和组织身份由 CSSA 确认；Birdtie 不取代官方渠道。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18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委员会的流程必须足够轻：发布一个活动，而不是维护另一个“重平台”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7101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pilot is useful only if it does not create operational burden.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585216" cy="585216"/>
          </a:xfrm>
          <a:prstGeom prst="ellipse">
            <a:avLst/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6654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27523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粘贴活动文案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31089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Paste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371600" y="2258568"/>
            <a:ext cx="1645920" cy="0"/>
          </a:xfrm>
          <a:prstGeom prst="line">
            <a:avLst/>
          </a:prstGeom>
          <a:noFill/>
          <a:ln w="25400">
            <a:solidFill>
              <a:srgbClr val="D6DED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63240" y="1965960"/>
            <a:ext cx="585216" cy="585216"/>
          </a:xfrm>
          <a:prstGeom prst="ellipse">
            <a:avLst/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06654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27523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自动提取字段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1089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Extract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03320" y="2258568"/>
            <a:ext cx="1645920" cy="0"/>
          </a:xfrm>
          <a:prstGeom prst="line">
            <a:avLst/>
          </a:prstGeom>
          <a:noFill/>
          <a:ln w="25400">
            <a:solidFill>
              <a:srgbClr val="D6DED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94960" y="1965960"/>
            <a:ext cx="585216" cy="585216"/>
          </a:xfrm>
          <a:prstGeom prst="ellipse">
            <a:avLst/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206654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74920" y="27523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委员会确认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31089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Confirm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5040" y="2258568"/>
            <a:ext cx="1645920" cy="0"/>
          </a:xfrm>
          <a:prstGeom prst="line">
            <a:avLst/>
          </a:prstGeom>
          <a:noFill/>
          <a:ln w="25400">
            <a:solidFill>
              <a:srgbClr val="D6DED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26680" y="1965960"/>
            <a:ext cx="585216" cy="585216"/>
          </a:xfrm>
          <a:prstGeom prst="ellipse">
            <a:avLst/>
          </a:prstGeom>
          <a:solidFill>
            <a:srgbClr val="C56F43"/>
          </a:solidFill>
          <a:ln w="12700">
            <a:solidFill>
              <a:srgbClr val="C56F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206654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06640" y="27523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Publish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06640" y="31089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发布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366760" y="2258568"/>
            <a:ext cx="1645920" cy="0"/>
          </a:xfrm>
          <a:prstGeom prst="line">
            <a:avLst/>
          </a:prstGeom>
          <a:noFill/>
          <a:ln w="25400">
            <a:solidFill>
              <a:srgbClr val="D6DED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058400" y="1965960"/>
            <a:ext cx="585216" cy="585216"/>
          </a:xfrm>
          <a:prstGeom prst="ellipse">
            <a:avLst/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0" y="206654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738360" y="27523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查看效果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738360" y="31089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Insights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25880" y="4069080"/>
            <a:ext cx="9509760" cy="1143000"/>
          </a:xfrm>
          <a:prstGeom prst="roundRect">
            <a:avLst>
              <a:gd name="adj" fmla="val 11200"/>
            </a:avLst>
          </a:prstGeom>
          <a:solidFill>
            <a:srgbClr val="DDE9E5"/>
          </a:solidFill>
          <a:ln w="12700">
            <a:solidFill>
              <a:srgbClr val="DDE9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0" y="4398264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Pilot 目标：活动事实仍由 CSSA 确认；AI 只帮助结构化和减少重复输入，不未经确认自动发布。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560320" y="56235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Success condition: a normal event can be published in &lt; 3 minutes after onboarding.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18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建议从一个真实活动开始，而不是一开始“大合作”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7101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One-event pilot: small, reversible and measurable.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257800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783080"/>
            <a:ext cx="5257800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103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Birdtie 提供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0704" y="267004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89888" y="26334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Verified CSSA profile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1060704" y="310896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89888" y="30723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Activity page + map/Agent discovery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1060704" y="354787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89888" y="35112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Join / Save / Plans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1060704" y="3986784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89888" y="39502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重要活动更新提醒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1060704" y="4425696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89888" y="43891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Basic funnel analytics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1060704" y="486460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89888" y="48280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直接产品支持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6537960" y="2103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CSSA 提供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47104" y="267004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76288" y="26334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位委员会联系人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6547104" y="3145536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76288" y="31089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个真实 upcoming event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6547104" y="3621024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76288" y="35844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 logo / 简介 / 准确信息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6547104" y="409651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76288" y="40599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5-10 个内部 tester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6547104" y="457200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76288" y="45354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 15 分钟 debrief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2011680" y="5989320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6F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Free during pilot • no exclusivity • no promotion commitment required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18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合作边界：不要求交出你们现有的私域和会员数据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7101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pilot should reduce risk, not create a new one.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029200" cy="4023360"/>
          </a:xfrm>
          <a:prstGeom prst="roundRect">
            <a:avLst>
              <a:gd name="adj" fmla="val 3182"/>
            </a:avLst>
          </a:prstGeom>
          <a:solidFill>
            <a:srgbClr val="DDE9E5"/>
          </a:solidFill>
          <a:ln w="12700">
            <a:solidFill>
              <a:srgbClr val="DDE9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1783080"/>
            <a:ext cx="5029200" cy="4023360"/>
          </a:xfrm>
          <a:prstGeom prst="roundRect">
            <a:avLst>
              <a:gd name="adj" fmla="val 3182"/>
            </a:avLst>
          </a:prstGeom>
          <a:solidFill>
            <a:srgbClr val="F4E2D8"/>
          </a:solidFill>
          <a:ln w="12700">
            <a:solidFill>
              <a:srgbClr val="F4E2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1214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我们不需要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2144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81328" y="2670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私人微信群历史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52144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81328" y="3172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现有会员名单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52144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81328" y="3675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排他合作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52144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81328" y="4178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付费 / 佣金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52144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81328" y="4681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 Birdtie 变成唯一官方渠道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21214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56F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我们需要确认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638544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6F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67728" y="2670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组织身份和公开简介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38544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6F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67728" y="3172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活动时间 / 地点 / 参加条件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38544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6F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67728" y="3675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谁能代表 CSSA 修改活动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38544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6F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67728" y="4178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出现关键问题时的联系方法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38544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6F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67728" y="4681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Pilot 后是否继续由 CSSA 自主决定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18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我们不会用“下载量”判断合作是否成功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7101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Measure discovery -&gt; participation and organization effort.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96596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249424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Views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6968" y="2871216"/>
            <a:ext cx="1563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多少学生真正看到了活动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2971800" y="1920240"/>
            <a:ext cx="196596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36392" y="2249424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Detail opens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72968" y="2871216"/>
            <a:ext cx="1563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是否愿意了解更多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257800" y="1920240"/>
            <a:ext cx="196596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22392" y="2249424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Join / Save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58968" y="2871216"/>
            <a:ext cx="1563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是否产生真实行动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7543800" y="1920240"/>
            <a:ext cx="196596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08392" y="2249424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Publish time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44968" y="2871216"/>
            <a:ext cx="1563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CSSA 维护是否足够轻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9829800" y="1920240"/>
            <a:ext cx="196596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94392" y="2249424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6F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2nd event?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30968" y="2871216"/>
            <a:ext cx="1563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CSSA 是否愿意再用一次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1508760" y="4434840"/>
            <a:ext cx="9144000" cy="1143000"/>
          </a:xfrm>
          <a:prstGeom prst="roundRect">
            <a:avLst>
              <a:gd name="adj" fmla="val 11200"/>
            </a:avLst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47088" y="4690872"/>
            <a:ext cx="8458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 CSSA 觉得 Birdtie 增加了工作量、没有带来新的发现价值，Pilot 就应该告诉我们要调整产品，而不是要求你们继续使用。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18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一个可控的两周 Pilot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7101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Two weeks from setup to learning.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468880" cy="320040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30552"/>
            <a:ext cx="1051560" cy="338328"/>
          </a:xfrm>
          <a:prstGeom prst="roundRect">
            <a:avLst>
              <a:gd name="adj" fmla="val 48649"/>
            </a:avLst>
          </a:prstGeom>
          <a:solidFill>
            <a:srgbClr val="DDE9E5"/>
          </a:solidFill>
          <a:ln w="12700">
            <a:solidFill>
              <a:srgbClr val="DDE9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199132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T-14 ~ T-7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Setup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 CSSA profile、活动事实、committee test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874520"/>
            <a:ext cx="2468880" cy="3200400"/>
          </a:xfrm>
          <a:prstGeom prst="roundRect">
            <a:avLst>
              <a:gd name="adj" fmla="val 5185"/>
            </a:avLst>
          </a:prstGeom>
          <a:solidFill>
            <a:srgbClr val="DDE9E5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03320" y="2130552"/>
            <a:ext cx="1051560" cy="338328"/>
          </a:xfrm>
          <a:prstGeom prst="roundRect">
            <a:avLst>
              <a:gd name="adj" fmla="val 48649"/>
            </a:avLst>
          </a:prstGeom>
          <a:solidFill>
            <a:srgbClr val="DDE9E5"/>
          </a:solidFill>
          <a:ln w="12700">
            <a:solidFill>
              <a:srgbClr val="DDE9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13048" y="2199132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T-7 ~ T-1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03320" y="27889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Small test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333756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5-10 人测试发现、详情、Join、Plans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1874520"/>
            <a:ext cx="2468880" cy="320040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130552"/>
            <a:ext cx="1051560" cy="338328"/>
          </a:xfrm>
          <a:prstGeom prst="roundRect">
            <a:avLst>
              <a:gd name="adj" fmla="val 48649"/>
            </a:avLst>
          </a:prstGeom>
          <a:solidFill>
            <a:srgbClr val="F4E2D8"/>
          </a:solidFill>
          <a:ln w="12700">
            <a:solidFill>
              <a:srgbClr val="F4E2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2199132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6F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Event day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92240" y="27889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Monitor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333756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保留原官方渠道；Birdtie 监控错误和关键更新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52560" y="1874520"/>
            <a:ext cx="2468880" cy="320040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1160" y="2130552"/>
            <a:ext cx="1051560" cy="338328"/>
          </a:xfrm>
          <a:prstGeom prst="roundRect">
            <a:avLst>
              <a:gd name="adj" fmla="val 48649"/>
            </a:avLst>
          </a:prstGeom>
          <a:solidFill>
            <a:srgbClr val="DDE9E5"/>
          </a:solidFill>
          <a:ln w="12700">
            <a:solidFill>
              <a:srgbClr val="DDE9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0888" y="2199132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T+1 ~ T+3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281160" y="27889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Debrief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81160" y="333756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漏斗数据 + 学生反馈 + CSSA 15 分钟复盘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234440" y="565099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下一步不是“大规模上线”，而是基于真实一场活动决定：继续、调整，还是停止。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18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为什么从 CSSA Aberdeen 开始？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7101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focused pilot in an ecosystem with real, recurring student activity.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521208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3640" y="1783080"/>
            <a:ext cx="5212080" cy="3840480"/>
          </a:xfrm>
          <a:prstGeom prst="roundRect">
            <a:avLst>
              <a:gd name="adj" fmla="val 3333"/>
            </a:avLst>
          </a:prstGeom>
          <a:solidFill>
            <a:srgbClr val="DDE9E5"/>
          </a:solidFill>
          <a:ln w="12700">
            <a:solidFill>
              <a:srgbClr val="DDE9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848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CSSA 的现有场景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69748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66090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AUSA 官方目录列有 CSSA-ABDN</a:t>
            </a:r>
            <a:endParaRPr lang="en-US" sz="1070" dirty="0"/>
          </a:p>
        </p:txBody>
      </p:sp>
      <p:sp>
        <p:nvSpPr>
          <p:cNvPr id="9" name="Text 7"/>
          <p:cNvSpPr/>
          <p:nvPr/>
        </p:nvSpPr>
        <p:spPr>
          <a:xfrm>
            <a:off x="1097280" y="317296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313639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官方页面描述其持续组织社交、文化与体育活动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1097280" y="364845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361188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每学期开学组织 Welcome Event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1097280" y="4123944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408736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现有活动主要通过官方 WeChat 等渠道发布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1097280" y="459943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456285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官方页面明确欢迎与其他 association 合作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6583680" y="20848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Aberdeen 的扩展空间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2788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001000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societies / student groups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29400" y="3703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55+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00100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sports clubs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29400" y="47091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先证明 CSSA 的一条真实链路，再决定是否扩展其他社团。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30936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C85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Sources: AUSA CSSA page (ausa.org.uk/organisation/aucssa/) • AUSA About Us (ausa.org.uk/about/aboutus/) • checked 2026-09-30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18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建议下一步：只确定一个活动、一个联系人、一次小测试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7101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 migration. No exclusivity. No promotion commitment.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2487168" cy="3063240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03120"/>
            <a:ext cx="585216" cy="585216"/>
          </a:xfrm>
          <a:prstGeom prst="ellipse">
            <a:avLst/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0370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2093976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 分钟沟通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2532888"/>
            <a:ext cx="1298448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先理解 CSSA 当前活动发布与新生答疑流程。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20440" y="1874520"/>
            <a:ext cx="2487168" cy="3063240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2103120"/>
            <a:ext cx="585216" cy="585216"/>
          </a:xfrm>
          <a:prstGeom prst="ellipse">
            <a:avLst/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20370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2093976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 1 个活动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2532888"/>
            <a:ext cx="1298448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双方确认官方信息和成功标准。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1874520"/>
            <a:ext cx="2487168" cy="3063240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2103120"/>
            <a:ext cx="585216" cy="585216"/>
          </a:xfrm>
          <a:prstGeom prst="ellipse">
            <a:avLst/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20370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69480" y="2093976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5-10 人测试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69480" y="2532888"/>
            <a:ext cx="1298448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委员会/熟悉用户先走完整流程。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98280" y="1874520"/>
            <a:ext cx="2487168" cy="3063240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103120"/>
            <a:ext cx="585216" cy="585216"/>
          </a:xfrm>
          <a:prstGeom prst="ellipse">
            <a:avLst/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220370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0" y="2093976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Event + Debrief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0" y="2532888"/>
            <a:ext cx="1298448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看真实数据和体验，再决定是否继续。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965960" y="5358384"/>
            <a:ext cx="8275320" cy="731520"/>
          </a:xfrm>
          <a:prstGeom prst="roundRect">
            <a:avLst>
              <a:gd name="adj" fmla="val 17500"/>
            </a:avLst>
          </a:prstGeom>
          <a:solidFill>
            <a:srgbClr val="173A35"/>
          </a:solidFill>
          <a:ln w="12700">
            <a:solidFill>
              <a:srgbClr val="173A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0280" y="559612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Proposed ask today: Can we choose one upcoming CSSA event for a free closed pilot?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18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公开资料来源与说明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7101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Public references used in this proposal.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9933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CSSA Aberdeen - AUSA official listing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86200" y="2011680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https://www.ausa.org.uk/organisation/aucssa/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38160" y="193852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CSSA profile, activity patterns, public contact and cooperation statement.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822960" y="3136392"/>
            <a:ext cx="1051560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33467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AUSA About 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86200" y="3364992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https://www.ausa.org.uk/about/aboutus/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138160" y="32918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AUSA states 55+ sports clubs and 200+ societies/student groups.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822960" y="4489704"/>
            <a:ext cx="1051560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6DE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7000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AUSA activity directory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86200" y="4718304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3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https://www.ausa.org.uk/getinvolved/activities/findsportsocietyorgroup/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138160" y="464515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Current public activity/society directory, including CSSA.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914400" y="5943600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This deck proposes a closed pilot. It does not imply an existing partnership, endorsement, or data-sharing arrangement with CSSA or AUSA.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18E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Birdtie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Birdtie × CSSA Aberdeen - Founding Organization Pilot</dc:title>
  <dc:subject>Birdtie x CSSA Aberdeen Founding Organization Pilot</dc:subject>
  <dc:creator>Birdtie</dc:creator>
  <cp:lastModifiedBy>Birdtie</cp:lastModifiedBy>
  <cp:revision>1</cp:revision>
  <dcterms:created xsi:type="dcterms:W3CDTF">2026-09-30T12:55:01Z</dcterms:created>
  <dcterms:modified xsi:type="dcterms:W3CDTF">2026-09-30T12:55:01Z</dcterms:modified>
</cp:coreProperties>
</file>